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73" r:id="rId10"/>
    <p:sldId id="263" r:id="rId11"/>
    <p:sldId id="264" r:id="rId12"/>
    <p:sldId id="265" r:id="rId13"/>
    <p:sldId id="274" r:id="rId14"/>
    <p:sldId id="266" r:id="rId15"/>
    <p:sldId id="267" r:id="rId16"/>
    <p:sldId id="268" r:id="rId17"/>
    <p:sldId id="269" r:id="rId18"/>
    <p:sldId id="270" r:id="rId19"/>
    <p:sldId id="275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1F2382-AD13-4E02-A112-759A00171728}" v="18" dt="2026-01-18T16:23:28.5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8" autoAdjust="0"/>
    <p:restoredTop sz="92288" autoAdjust="0"/>
  </p:normalViewPr>
  <p:slideViewPr>
    <p:cSldViewPr snapToGrid="0">
      <p:cViewPr varScale="1">
        <p:scale>
          <a:sx n="76" d="100"/>
          <a:sy n="76" d="100"/>
        </p:scale>
        <p:origin x="7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44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71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95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8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316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80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16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2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0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1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2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FD875D-BDEF-4631-AD70-FB134CC0184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D0CC514-49EF-4D57-AD0C-F2A64983D04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01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FE8426-6885-AE78-9F1A-F83AAE49F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5" y="286603"/>
            <a:ext cx="11737571" cy="139471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End-to-End Real-Time Space Weather &amp; Solar Storm Data Pipeline</a:t>
            </a:r>
            <a:endParaRPr lang="en-IN" sz="54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0627BF-477F-FE1B-2D69-05B451D8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5" y="1845734"/>
            <a:ext cx="11860922" cy="4574731"/>
          </a:xfrm>
        </p:spPr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3600" b="1" dirty="0"/>
              <a:t>SUBJECT :</a:t>
            </a:r>
            <a:r>
              <a:rPr lang="en-US" sz="3600" dirty="0"/>
              <a:t> BIG DATA &amp; DISTRIBUTED PROCESS (MCSCIN5A1825) </a:t>
            </a:r>
          </a:p>
          <a:p>
            <a:pPr algn="ctr"/>
            <a:r>
              <a:rPr lang="en-IN" sz="3600" b="1" dirty="0"/>
              <a:t>PROFESSOR:</a:t>
            </a:r>
            <a:r>
              <a:rPr lang="en-IN" sz="3600" dirty="0"/>
              <a:t> PROF. ZHANG YIRU, PROF. LI YUE 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dirty="0"/>
          </a:p>
          <a:p>
            <a:endParaRPr lang="en-IN" dirty="0"/>
          </a:p>
          <a:p>
            <a:pPr algn="r"/>
            <a:r>
              <a:rPr lang="en-IN" sz="3500" dirty="0"/>
              <a:t> </a:t>
            </a:r>
            <a:r>
              <a:rPr lang="en-IN" sz="3500" b="1" u="sng" dirty="0"/>
              <a:t>SUBMITTED BY: </a:t>
            </a:r>
            <a:r>
              <a:rPr lang="en-IN" sz="3500" u="sng" dirty="0"/>
              <a:t>MODI GURPREETKAUR JAYKUMAR</a:t>
            </a:r>
          </a:p>
        </p:txBody>
      </p:sp>
    </p:spTree>
    <p:extLst>
      <p:ext uri="{BB962C8B-B14F-4D97-AF65-F5344CB8AC3E}">
        <p14:creationId xmlns:p14="http://schemas.microsoft.com/office/powerpoint/2010/main" val="63761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8843-6435-804D-C06C-66F33CF1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C2BF5-1394-8E08-583C-EB72AC4C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67" y="2022714"/>
            <a:ext cx="1195602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This project implements an end-to-end, distributed big data pipeline for real-time space weather monitoring using live data from the NOAA Space Weather Prediction Center (SWPC). Variations in solar wind conditions can impact satellite communications, navigation systems, and power grids.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objective of this project is to design and deploy a scalable, fault-tolerant streaming analytics system that ingests, processes, stores, and visualizes space weather data in near real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solution integrates Apache Kafka for ingestion, Apache Spark for distributed processing, Hadoop HDFS for storage, </a:t>
            </a:r>
            <a:r>
              <a:rPr lang="en-US" sz="2400" dirty="0" err="1"/>
              <a:t>InfluxDB</a:t>
            </a:r>
            <a:r>
              <a:rPr lang="en-US" sz="2400" dirty="0"/>
              <a:t> for time-series analytics, and Grafana for visualization. All components are deployed and validated on a multi-node distributed cluster.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88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E9A1-BF03-84F4-D259-9FAE0A3E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87727-8499-A78D-9823-FB9BC3B55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143" y="1934223"/>
            <a:ext cx="7561005" cy="43092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The system uses public real-time space weather data from NOAA SWPC.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The data includes solar wind speed, proton density, plasma temperature, and magnetic field components (Bx, By, </a:t>
            </a:r>
            <a:r>
              <a:rPr lang="en-US" sz="3200" dirty="0" err="1"/>
              <a:t>Bz</a:t>
            </a:r>
            <a:r>
              <a:rPr lang="en-US" sz="3200" dirty="0"/>
              <a:t>, </a:t>
            </a:r>
            <a:r>
              <a:rPr lang="en-US" sz="3200" dirty="0" err="1"/>
              <a:t>Bt</a:t>
            </a:r>
            <a:r>
              <a:rPr lang="en-US" sz="3200" dirty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The data is received in JSON format and updates frequently.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729D3-FA8D-0E32-C41D-DD0955BA5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4632" y="2045110"/>
            <a:ext cx="4109884" cy="3785419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  <a:p>
            <a:r>
              <a:rPr lang="en-IN" sz="4600" b="1" dirty="0"/>
              <a:t>Sample Data: </a:t>
            </a:r>
          </a:p>
          <a:p>
            <a:r>
              <a:rPr lang="en-US" sz="3300" dirty="0"/>
              <a:t>{</a:t>
            </a:r>
          </a:p>
          <a:p>
            <a:r>
              <a:rPr lang="en-US" sz="3300" dirty="0"/>
              <a:t>  "timestamp": "2026-01-17 20:14:00.000",</a:t>
            </a:r>
          </a:p>
          <a:p>
            <a:r>
              <a:rPr lang="en-US" sz="3300" dirty="0"/>
              <a:t>  "speed": "685.2",</a:t>
            </a:r>
          </a:p>
          <a:p>
            <a:r>
              <a:rPr lang="en-US" sz="3300" dirty="0"/>
              <a:t>  "density": "0.05",</a:t>
            </a:r>
          </a:p>
          <a:p>
            <a:r>
              <a:rPr lang="en-US" sz="3300" dirty="0"/>
              <a:t>  "temperature": "236665",</a:t>
            </a:r>
          </a:p>
          <a:p>
            <a:r>
              <a:rPr lang="en-US" sz="3300" dirty="0"/>
              <a:t>  "bx": "-6.46",</a:t>
            </a:r>
          </a:p>
          <a:p>
            <a:r>
              <a:rPr lang="en-US" sz="3300" dirty="0"/>
              <a:t>  "by": "3.49",</a:t>
            </a:r>
          </a:p>
          <a:p>
            <a:r>
              <a:rPr lang="en-US" sz="3300" dirty="0"/>
              <a:t>  "</a:t>
            </a:r>
            <a:r>
              <a:rPr lang="en-US" sz="3300" dirty="0" err="1"/>
              <a:t>bz</a:t>
            </a:r>
            <a:r>
              <a:rPr lang="en-US" sz="3300" dirty="0"/>
              <a:t>": "-1.92",</a:t>
            </a:r>
          </a:p>
          <a:p>
            <a:r>
              <a:rPr lang="en-US" sz="3300" dirty="0"/>
              <a:t>  "</a:t>
            </a:r>
            <a:r>
              <a:rPr lang="en-US" sz="3300" dirty="0" err="1"/>
              <a:t>bt</a:t>
            </a:r>
            <a:r>
              <a:rPr lang="en-US" sz="3300" dirty="0"/>
              <a:t>": "7.59"</a:t>
            </a:r>
          </a:p>
          <a:p>
            <a:r>
              <a:rPr lang="en-US" sz="3300" dirty="0"/>
              <a:t>}</a:t>
            </a:r>
            <a:endParaRPr lang="en-IN" sz="33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63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2221F1-9459-0A36-E9FC-EF0C460E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PROBLEM STATEMENT AND 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27783-6345-07B2-00A2-D76AED776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5" y="1845734"/>
            <a:ext cx="11804073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Space weather data is generated continuously and changes rapidly. Raw scientific measurements are difficult to interpret and are not suitable for direct monitoring using traditional batch-only systems. There is a need for a system that can ingest live data, process it at scale, store it reliably, and present meaningful insights in real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This project addresses the problem by building a </a:t>
            </a:r>
            <a:r>
              <a:rPr lang="en-US" sz="2400" b="1" dirty="0"/>
              <a:t>distributed streaming pipeline</a:t>
            </a:r>
            <a:r>
              <a:rPr lang="en-US" sz="2400" dirty="0"/>
              <a:t>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Ingests live space weather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Processes and cleans data using Spark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Stores data in HDFS using layered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Provides real-time visualization through dashboards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7417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E54CDD-D0AE-6A31-7864-EB8CC788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SYSTEM ARCHITECTURE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5CA5D9-3ADC-7602-9D2B-843C30759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338" y="1384937"/>
            <a:ext cx="11837324" cy="1450757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The system follows a streaming-first architecture with a clear separation of ingestion, processing, storage, and visualization layers.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68D4620-688E-023C-5ED5-4A0ED44008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79" y="2144684"/>
            <a:ext cx="3007473" cy="4139738"/>
          </a:xfrm>
        </p:spPr>
      </p:pic>
    </p:spTree>
    <p:extLst>
      <p:ext uri="{BB962C8B-B14F-4D97-AF65-F5344CB8AC3E}">
        <p14:creationId xmlns:p14="http://schemas.microsoft.com/office/powerpoint/2010/main" val="96437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F9EEBF-6D55-6342-551E-9B5C2D0F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DISTRIBUTED CLUSTER SETUP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AF7047-460F-00F4-9A34-A5386F4A596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7484" y="1502135"/>
            <a:ext cx="11897032" cy="14507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I used a 2-node distributed cluster to run my space-weather data pipeline. The master node runs all main services (HDFS, Spark, Kafka, Zookeeper, </a:t>
            </a:r>
            <a:r>
              <a:rPr lang="en-IN" sz="2800" dirty="0" err="1"/>
              <a:t>InfluxDB</a:t>
            </a:r>
            <a:r>
              <a:rPr lang="en-IN" sz="2800" dirty="0"/>
              <a:t>, Grafana),and the worker node runs compute and storage services (</a:t>
            </a:r>
            <a:r>
              <a:rPr lang="en-IN" sz="2800" dirty="0" err="1"/>
              <a:t>DataNode</a:t>
            </a:r>
            <a:r>
              <a:rPr lang="en-IN" sz="2800" dirty="0"/>
              <a:t> + Spark Worker). 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D61029-6B30-E37F-7F7D-36FCF0EA1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799635"/>
              </p:ext>
            </p:extLst>
          </p:nvPr>
        </p:nvGraphicFramePr>
        <p:xfrm>
          <a:off x="1758008" y="2952892"/>
          <a:ext cx="9018148" cy="3074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379">
                  <a:extLst>
                    <a:ext uri="{9D8B030D-6E8A-4147-A177-3AD203B41FA5}">
                      <a16:colId xmlns:a16="http://schemas.microsoft.com/office/drawing/2014/main" val="918096505"/>
                    </a:ext>
                  </a:extLst>
                </a:gridCol>
                <a:gridCol w="1337187">
                  <a:extLst>
                    <a:ext uri="{9D8B030D-6E8A-4147-A177-3AD203B41FA5}">
                      <a16:colId xmlns:a16="http://schemas.microsoft.com/office/drawing/2014/main" val="4121202800"/>
                    </a:ext>
                  </a:extLst>
                </a:gridCol>
                <a:gridCol w="1406013">
                  <a:extLst>
                    <a:ext uri="{9D8B030D-6E8A-4147-A177-3AD203B41FA5}">
                      <a16:colId xmlns:a16="http://schemas.microsoft.com/office/drawing/2014/main" val="3189740587"/>
                    </a:ext>
                  </a:extLst>
                </a:gridCol>
                <a:gridCol w="5476569">
                  <a:extLst>
                    <a:ext uri="{9D8B030D-6E8A-4147-A177-3AD203B41FA5}">
                      <a16:colId xmlns:a16="http://schemas.microsoft.com/office/drawing/2014/main" val="3865608548"/>
                    </a:ext>
                  </a:extLst>
                </a:gridCol>
              </a:tblGrid>
              <a:tr h="942825">
                <a:tc>
                  <a:txBody>
                    <a:bodyPr/>
                    <a:lstStyle/>
                    <a:p>
                      <a:r>
                        <a:rPr lang="en-US" b="1" dirty="0" err="1"/>
                        <a:t>Sr.No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IP Address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NODE ROLE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SERVICES RUNNING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162651"/>
                  </a:ext>
                </a:extLst>
              </a:tr>
              <a:tr h="942825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10.0.0.97 	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MASTER 	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HDFS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NameNode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SecondaryNameNode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YARN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ResourceManager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Spark Master, Kafka Broker, Zookeeper,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InfluxDB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Grafana 	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047725"/>
                  </a:ext>
                </a:extLst>
              </a:tr>
              <a:tr h="942825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10.0.0.95 	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WORKER1 	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HDFS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DataNode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YARN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NodeManager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Spark Worker 	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395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49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BFFD4-ED62-D583-88AA-2C7FBE6F3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5" y="286603"/>
            <a:ext cx="10900755" cy="1450757"/>
          </a:xfrm>
        </p:spPr>
        <p:txBody>
          <a:bodyPr>
            <a:noAutofit/>
          </a:bodyPr>
          <a:lstStyle/>
          <a:p>
            <a:br>
              <a:rPr lang="en-IN" dirty="0"/>
            </a:br>
            <a:r>
              <a:rPr lang="en-IN" b="1" dirty="0"/>
              <a:t>Component Configuration &amp; Service Mapping 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4096EB-AD0D-A899-255D-F5D9617CF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769287"/>
              </p:ext>
            </p:extLst>
          </p:nvPr>
        </p:nvGraphicFramePr>
        <p:xfrm>
          <a:off x="326968" y="1198462"/>
          <a:ext cx="11538064" cy="4994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16">
                  <a:extLst>
                    <a:ext uri="{9D8B030D-6E8A-4147-A177-3AD203B41FA5}">
                      <a16:colId xmlns:a16="http://schemas.microsoft.com/office/drawing/2014/main" val="3258556624"/>
                    </a:ext>
                  </a:extLst>
                </a:gridCol>
                <a:gridCol w="2884516">
                  <a:extLst>
                    <a:ext uri="{9D8B030D-6E8A-4147-A177-3AD203B41FA5}">
                      <a16:colId xmlns:a16="http://schemas.microsoft.com/office/drawing/2014/main" val="4146608849"/>
                    </a:ext>
                  </a:extLst>
                </a:gridCol>
                <a:gridCol w="2884516">
                  <a:extLst>
                    <a:ext uri="{9D8B030D-6E8A-4147-A177-3AD203B41FA5}">
                      <a16:colId xmlns:a16="http://schemas.microsoft.com/office/drawing/2014/main" val="1724744603"/>
                    </a:ext>
                  </a:extLst>
                </a:gridCol>
                <a:gridCol w="2884516">
                  <a:extLst>
                    <a:ext uri="{9D8B030D-6E8A-4147-A177-3AD203B41FA5}">
                      <a16:colId xmlns:a16="http://schemas.microsoft.com/office/drawing/2014/main" val="2670575263"/>
                    </a:ext>
                  </a:extLst>
                </a:gridCol>
              </a:tblGrid>
              <a:tr h="483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Host / IP :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781963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HDFS </a:t>
                      </a:r>
                      <a:r>
                        <a:rPr lang="en-IN" dirty="0" err="1"/>
                        <a:t>NameNode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10.0.0.97 : 9870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Manages HDFS metadata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8389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HDFS </a:t>
                      </a:r>
                      <a:r>
                        <a:rPr lang="en-IN" dirty="0" err="1"/>
                        <a:t>DataNode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10.0.0.95 : 9864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HDFS blocks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505555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YARN </a:t>
                      </a:r>
                      <a:r>
                        <a:rPr lang="en-IN" dirty="0" err="1"/>
                        <a:t>ResourceManager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10.0.0.97 : </a:t>
                      </a:r>
                      <a:r>
                        <a:rPr lang="en-IN" b="0" dirty="0"/>
                        <a:t>8088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Cluster resource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388868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r>
                        <a:rPr lang="en-IN" dirty="0"/>
                        <a:t>YARN </a:t>
                      </a:r>
                      <a:r>
                        <a:rPr lang="en-IN" dirty="0" err="1"/>
                        <a:t>NodeManager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10.0.0.95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Executes containers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36722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r>
                        <a:rPr lang="en-IN" dirty="0"/>
                        <a:t>Spark Master /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10.0.0.97 : 7077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Spark scheduling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565155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r>
                        <a:rPr lang="en-IN" dirty="0"/>
                        <a:t>Spark Executor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10.0.0.95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Executes Spark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550266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r>
                        <a:rPr lang="en-IN" dirty="0"/>
                        <a:t>Kafka 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10.0.0.97 : 9092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solar-wind-raw 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27120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r>
                        <a:rPr lang="en-IN" dirty="0" err="1"/>
                        <a:t>InfluxDB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TSDB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10.0.0.97 : 8086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Time-series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06431"/>
                  </a:ext>
                </a:extLst>
              </a:tr>
              <a:tr h="483801">
                <a:tc>
                  <a:txBody>
                    <a:bodyPr/>
                    <a:lstStyle/>
                    <a:p>
                      <a:r>
                        <a:rPr lang="en-IN" dirty="0"/>
                        <a:t>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10.0.0.97 : 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8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052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02FC74-3C5F-5D27-1FA4-1C70CD89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MASTER AND WORKER NODE RUNNING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ABA5-F313-8AA1-4B71-FCCE0A499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845734"/>
            <a:ext cx="1176921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master node runs all coordination services including HDFS </a:t>
            </a:r>
            <a:r>
              <a:rPr lang="en-US" sz="2800" dirty="0" err="1"/>
              <a:t>NameNode</a:t>
            </a:r>
            <a:r>
              <a:rPr lang="en-US" sz="2800" dirty="0"/>
              <a:t>, YARN </a:t>
            </a:r>
            <a:r>
              <a:rPr lang="en-US" sz="2800" dirty="0" err="1"/>
              <a:t>ResourceManager</a:t>
            </a:r>
            <a:r>
              <a:rPr lang="en-US" sz="2800" dirty="0"/>
              <a:t>, Spark Master, Kafka Broker, and Zookeeper.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worker node runs distributed compute and storage services including </a:t>
            </a:r>
            <a:r>
              <a:rPr lang="en-US" sz="2800" dirty="0" err="1"/>
              <a:t>DataNode</a:t>
            </a:r>
            <a:r>
              <a:rPr lang="en-US" sz="2800" dirty="0"/>
              <a:t>, </a:t>
            </a:r>
            <a:r>
              <a:rPr lang="en-US" sz="2800" dirty="0" err="1"/>
              <a:t>NodeManager</a:t>
            </a:r>
            <a:r>
              <a:rPr lang="en-US" sz="2800" dirty="0"/>
              <a:t>, and Spark Worker.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4ED0E-E8BE-5DD5-0F65-B90D63A6E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51" y="3677264"/>
            <a:ext cx="4025326" cy="2477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63B66C-EEE4-F134-975F-8A2C3E5BF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918155"/>
            <a:ext cx="3637935" cy="199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8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DCAC-99D9-FB5B-D9E3-B6DA273F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DATA INGESTION WITH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F5184-DC11-6D17-08E1-B53E9FBB7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978428"/>
            <a:ext cx="10789920" cy="38906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200" dirty="0"/>
              <a:t>A Python-based Kafka producer continuously fetches live space weather data from the NOAA API and publishes JSON messages to the Kafka topic </a:t>
            </a:r>
            <a:r>
              <a:rPr lang="en-IN" sz="3200" b="1" dirty="0"/>
              <a:t>solar-wind-raw</a:t>
            </a:r>
            <a:r>
              <a:rPr lang="en-IN" sz="3200" dirty="0"/>
              <a:t>. Kafka ensures reliable, ordered, and fault-tolerant ingestion.</a:t>
            </a:r>
          </a:p>
        </p:txBody>
      </p:sp>
    </p:spTree>
    <p:extLst>
      <p:ext uri="{BB962C8B-B14F-4D97-AF65-F5344CB8AC3E}">
        <p14:creationId xmlns:p14="http://schemas.microsoft.com/office/powerpoint/2010/main" val="157215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C9C4-18A7-9B79-4EDB-EB1A0868D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KAFKA TOPIC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71582-97E7-DAF6-0709-8407C0E2F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845734"/>
            <a:ext cx="11838039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Kafka is used as the streaming platform to ingest real-time space weather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The Kafka topic solar-wind-raw was created successfully and verified.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33772-0C0B-6C56-CD20-77E6D270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72" y="3429000"/>
            <a:ext cx="11403016" cy="282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C5BD-3605-2144-1269-515CD2AA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KAFKA PRODUCER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4816F-51F6-F58B-DD84-86963BD4B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1" y="1845734"/>
            <a:ext cx="1185770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A Python Kafka producer continuously fetches live space weather data from NOAA and sends JSON messages to Kafka.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02A6E-F896-35D9-12CA-3403547A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15" y="2742426"/>
            <a:ext cx="11316929" cy="351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45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334A-2D85-F464-A3C0-1FEF7E8A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KAFKA CONSUMER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35415-32AE-E67B-B6A6-1778E4E14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1845734"/>
            <a:ext cx="118872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Kafka consumer confirms that data is successfully received from the topic.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02C834-F918-F27A-5C89-61267EAA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0" y="2753032"/>
            <a:ext cx="11710219" cy="351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0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9B1F-B398-7D7F-7B4B-B11D4470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PROCESSING WITH APACHE SPARK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8B84-2170-6FB6-C50E-51D7F911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451" y="1845734"/>
            <a:ext cx="11706329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Bronze Layer (Streaming)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Spark Structured Streaming reads data from Kafka and writes raw events to HDFS at /space-weather/raw. Checkpoints stored in /space-weather/checkpoints ensure fault tolerance and exactly-once processing.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Silver Layer (Batch Processing)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Spark batch jobs clean and structure the raw data by normalizing timestamps and enforcing schema. The cleaned data is written to /space-weather/silver in Parquet format.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74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E699-C904-E546-46B9-9DE49543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SPARK STREAMING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56AFB-00EA-F63D-D30D-07F2F142E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5" y="1845734"/>
            <a:ext cx="1167089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Apache Spark is used to process the data in real time and batch mode.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The following Spark jobs were implemented: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kafka_to_hdfs.py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hdfs_to_silver.py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silver_to_influx.py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FF9B4-83A2-1BBF-F474-359438AE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946" y="4630994"/>
            <a:ext cx="7847750" cy="146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53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6190-FC64-0450-85A3-B65868D5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SPARK JOBS ON YARN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2D795-8D0A-29DD-F43E-62FDE8547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845734"/>
            <a:ext cx="1179871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Spark applications are submitted and managed using YARN, confirming distributed execution.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4E5E2-DA5E-32DA-D5C7-89C99AF48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6" y="3028335"/>
            <a:ext cx="11651227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40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4ADF-DC56-FCF9-97D5-A5401506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HDFS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5DD9C-3F3E-79E4-427D-45263EA3A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1845734"/>
            <a:ext cx="11700388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Raw streaming data is stored in HDFS for long-term storage and reprocessing.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HDFS ensures fault tolerance and distributed storage.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F9B97-D02B-8E15-2CBC-D034C4F63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3429000"/>
            <a:ext cx="11700388" cy="284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26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26FC-0CA8-8094-B79F-D77A52EC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INFLUXDB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16B-C8AB-7F79-0757-2BFFBFFF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845734"/>
            <a:ext cx="11769213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Processed space weather metrics are written to </a:t>
            </a:r>
            <a:r>
              <a:rPr lang="en-US" sz="2400" dirty="0" err="1"/>
              <a:t>InfluxDB</a:t>
            </a:r>
            <a:r>
              <a:rPr lang="en-US" sz="2400" dirty="0"/>
              <a:t> as time-series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Stored fields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density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temperature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bx, by, </a:t>
            </a:r>
            <a:r>
              <a:rPr lang="en-US" sz="2400" dirty="0" err="1"/>
              <a:t>bz</a:t>
            </a:r>
            <a:r>
              <a:rPr lang="en-US" sz="2400" dirty="0"/>
              <a:t>, </a:t>
            </a:r>
            <a:r>
              <a:rPr lang="en-US" sz="2400" dirty="0" err="1"/>
              <a:t>bt</a:t>
            </a:r>
            <a:endParaRPr lang="en-US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3937C-7193-01B2-76A9-524618545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182" y="2340077"/>
            <a:ext cx="8908998" cy="388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48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9B96-B46C-396A-6DCF-8D84A99E7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GRAFANA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2D808-693D-5092-DFBC-3824E4863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3170" y="1875786"/>
            <a:ext cx="4198201" cy="43642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Grafana is used to visualize real-time space weather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dashboard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Solar wind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Density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Temperature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Speed vs Density</a:t>
            </a: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9208C2-0803-F604-BFE2-C2A9FA40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D921B9-3E7B-D5AA-0E57-F83F95A107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1434D-5BB3-D6DF-C990-779FB24F6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71" y="1845734"/>
            <a:ext cx="7586505" cy="439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59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115C-8EE3-9B5F-BC4F-B71B969C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MEDALLION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65A20-DEA6-5A09-C933-5D1E61B3C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95" y="1845734"/>
            <a:ext cx="11635991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The project follows a practical medallion architecture: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Bronze:</a:t>
            </a:r>
            <a:r>
              <a:rPr lang="en-IN" sz="2800" dirty="0"/>
              <a:t> Raw streaming data in HDFS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Silver:</a:t>
            </a:r>
            <a:r>
              <a:rPr lang="en-IN" sz="2800" dirty="0"/>
              <a:t> Cleaned, structured data in HDFS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Gold:</a:t>
            </a:r>
            <a:r>
              <a:rPr lang="en-IN" sz="2800" dirty="0"/>
              <a:t> Time-series analytical metrics stored in </a:t>
            </a:r>
            <a:r>
              <a:rPr lang="en-IN" sz="2800" dirty="0" err="1"/>
              <a:t>InfluxDB</a:t>
            </a:r>
            <a:r>
              <a:rPr lang="en-IN" sz="2800" dirty="0"/>
              <a:t> and visualized in Grafana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This approach separates raw data from analytics-ready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165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6E7386-B4E8-0299-8E52-EFAB9E275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6C5C95-5060-DA3B-C217-FDC3FD6AC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22" y="1919234"/>
            <a:ext cx="11816862" cy="394985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This project demonstrates the successful implementation of an end-to-end, distributed real-time data pipeline for space weather analytics using Kafka, Spark, HDFS, </a:t>
            </a:r>
            <a:r>
              <a:rPr lang="en-US" sz="2800" dirty="0" err="1"/>
              <a:t>InfluxDB</a:t>
            </a:r>
            <a:r>
              <a:rPr lang="en-US" sz="2800" dirty="0"/>
              <a:t>, and Grafana.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Live data from the NOAA Space Weather Prediction Center was reliably ingested, processed, and stored using a scalable and fault-tolerant architecture.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use of a medallion architecture ensured proper separation between raw and cleaned data, improving data quality and reusability. Real-time dashboards built with Grafana enabled continuous monitoring of key solar wind metrics, fulfilling the academic objectives and showcasing practical big data engineering skills.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18085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227</TotalTime>
  <Words>1097</Words>
  <Application>Microsoft Office PowerPoint</Application>
  <PresentationFormat>Widescreen</PresentationFormat>
  <Paragraphs>147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Retrospect</vt:lpstr>
      <vt:lpstr>End-to-End Real-Time Space Weather &amp; Solar Storm Data Pipeline</vt:lpstr>
      <vt:lpstr>PROJECT OVERVIEW</vt:lpstr>
      <vt:lpstr>DATA SOURCE</vt:lpstr>
      <vt:lpstr>PROBLEM STATEMENT AND OBJECTIVES</vt:lpstr>
      <vt:lpstr>SYSTEM ARCHITECTURE</vt:lpstr>
      <vt:lpstr>DISTRIBUTED CLUSTER SETUP</vt:lpstr>
      <vt:lpstr> Component Configuration &amp; Service Mapping  </vt:lpstr>
      <vt:lpstr>MASTER AND WORKER NODE RUNNING</vt:lpstr>
      <vt:lpstr>DATA INGESTION WITH KAFKA</vt:lpstr>
      <vt:lpstr>KAFKA TOPIC CREATION</vt:lpstr>
      <vt:lpstr>KAFKA PRODUCER RUNNING</vt:lpstr>
      <vt:lpstr>KAFKA CONSUMER VERIFICATION</vt:lpstr>
      <vt:lpstr>DATA PROCESSING WITH APACHE SPARK</vt:lpstr>
      <vt:lpstr>SPARK STREAMING JOBS</vt:lpstr>
      <vt:lpstr>SPARK JOBS ON YARN</vt:lpstr>
      <vt:lpstr>HDFS STORAGE</vt:lpstr>
      <vt:lpstr>INFLUXDB</vt:lpstr>
      <vt:lpstr>GRAFANA DASHBOARD</vt:lpstr>
      <vt:lpstr>MEDALLION ARCHITECTURE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Gurpreet Modi</dc:creator>
  <cp:lastModifiedBy>Gurpreet Modi</cp:lastModifiedBy>
  <cp:revision>2</cp:revision>
  <dcterms:created xsi:type="dcterms:W3CDTF">2026-01-18T12:40:48Z</dcterms:created>
  <dcterms:modified xsi:type="dcterms:W3CDTF">2026-01-18T16:27:57Z</dcterms:modified>
</cp:coreProperties>
</file>